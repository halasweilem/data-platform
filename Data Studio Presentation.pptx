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 rotWithShape="1">
            <a:gsLst>
              <a:gs pos="0">
                <a:srgbClr val="243746"/>
              </a:gs>
              <a:gs pos="55000">
                <a:srgbClr val="0093C9"/>
              </a:gs>
              <a:gs pos="100000">
                <a:srgbClr val="DB0032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381000"/>
            <a:ext cx="323850" cy="323850"/>
          </a:xfrm>
          <a:prstGeom prst="roundRect">
            <a:avLst>
              <a:gd name="adj" fmla="val 25000"/>
            </a:avLst>
          </a:prstGeom>
          <a:solidFill>
            <a:srgbClr val="24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Georgia"/>
              </a:rPr>
              <a:t>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950" y="447675"/>
            <a:ext cx="476250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B7A85"/>
                </a:solidFill>
                <a:latin typeface="Segoe UI"/>
              </a:rPr>
              <a:t>CAPITAL BANK · KNOWLEDGE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8000" y="447675"/>
            <a:ext cx="83820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B7A85"/>
                </a:solidFill>
                <a:latin typeface="Segoe UI"/>
              </a:rPr>
              <a:t>01 /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914400"/>
            <a:ext cx="85725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43746"/>
                </a:solidFill>
                <a:latin typeface="Segoe UI"/>
              </a:rPr>
              <a:t>Data Studio</a:t>
            </a:r>
            <a:r>
              <a:rPr sz="3400" b="1">
                <a:solidFill>
                  <a:srgbClr val="0093C9"/>
                </a:solidFill>
                <a:latin typeface="Segoe U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90650"/>
            <a:ext cx="85725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55460"/>
                </a:solidFill>
                <a:latin typeface="Segoe UI"/>
              </a:rPr>
              <a:t>The content control plane for Pocket GPT Mobile’s knowledge base.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66900"/>
            <a:ext cx="85725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55460"/>
                </a:solidFill>
                <a:latin typeface="Segoe UI"/>
              </a:rPr>
              <a:t>A role-aware web app where business and content teams edit the source content that powers the mobile assistant’s answers — no engineering involvement needed.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76500"/>
            <a:ext cx="5257800" cy="102870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 w="9525">
            <a:solidFill>
              <a:srgbClr val="E5E7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76300" y="2647950"/>
            <a:ext cx="209550" cy="209550"/>
          </a:xfrm>
          <a:prstGeom prst="ellipse">
            <a:avLst/>
          </a:prstGeom>
          <a:solidFill>
            <a:srgbClr val="0093C9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1100" y="2628900"/>
            <a:ext cx="459105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43746"/>
                </a:solidFill>
                <a:latin typeface="Segoe UI"/>
              </a:rPr>
              <a:t>Steps &amp; Workflows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2933700"/>
            <a:ext cx="487680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A75"/>
                </a:solidFill>
                <a:latin typeface="Segoe UI"/>
              </a:rPr>
              <a:t>In-app step-by-step guidance and tips — Login, Transfers, Bill Payments, PFM, Digital Onboarding, and more.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15050" y="2476500"/>
            <a:ext cx="5257800" cy="102870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 w="9525">
            <a:solidFill>
              <a:srgbClr val="E5E7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305550" y="2647950"/>
            <a:ext cx="209550" cy="209550"/>
          </a:xfrm>
          <a:prstGeom prst="ellipse">
            <a:avLst/>
          </a:prstGeom>
          <a:solidFill>
            <a:srgbClr val="0093C9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10350" y="2628900"/>
            <a:ext cx="459105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43746"/>
                </a:solidFill>
                <a:latin typeface="Segoe UI"/>
              </a:rPr>
              <a:t>Retail Products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5550" y="2933700"/>
            <a:ext cx="487680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A75"/>
                </a:solidFill>
                <a:latin typeface="Segoe UI"/>
              </a:rPr>
              <a:t>Product PDFs — cards, loans, deposits — parsed into structured, chunked content.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771900"/>
            <a:ext cx="2095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B7A85"/>
                </a:solidFill>
                <a:latin typeface="Segoe UI"/>
              </a:rPr>
              <a:t>ROLE-SCOPED ACCESS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57500" y="3857625"/>
            <a:ext cx="6477000" cy="9525"/>
          </a:xfrm>
          <a:prstGeom prst="rect">
            <a:avLst/>
          </a:prstGeom>
          <a:solidFill>
            <a:srgbClr val="E5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4038600"/>
            <a:ext cx="1123950" cy="285750"/>
          </a:xfrm>
          <a:prstGeom prst="roundRect">
            <a:avLst>
              <a:gd name="adj" fmla="val 50000"/>
            </a:avLst>
          </a:prstGeom>
          <a:solidFill>
            <a:srgbClr val="E6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0093C9"/>
                </a:solidFill>
                <a:latin typeface="Segoe UI"/>
              </a:rPr>
              <a:t>Steps admins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05000" y="4038600"/>
            <a:ext cx="1123950" cy="285750"/>
          </a:xfrm>
          <a:prstGeom prst="roundRect">
            <a:avLst>
              <a:gd name="adj" fmla="val 50000"/>
            </a:avLst>
          </a:prstGeom>
          <a:solidFill>
            <a:srgbClr val="E6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0093C9"/>
                </a:solidFill>
                <a:latin typeface="Segoe UI"/>
              </a:rPr>
              <a:t>Retail admins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24200" y="4038600"/>
            <a:ext cx="1123950" cy="285750"/>
          </a:xfrm>
          <a:prstGeom prst="roundRect">
            <a:avLst>
              <a:gd name="adj" fmla="val 50000"/>
            </a:avLst>
          </a:prstGeom>
          <a:solidFill>
            <a:srgbClr val="E6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0093C9"/>
                </a:solidFill>
                <a:latin typeface="Segoe UI"/>
              </a:rPr>
              <a:t>Data admins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1500" y="4038600"/>
            <a:ext cx="381000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7A85"/>
                </a:solidFill>
                <a:latin typeface="Segoe UI"/>
              </a:rPr>
              <a:t>each sees only their permitted domains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610100"/>
            <a:ext cx="10820400" cy="876300"/>
          </a:xfrm>
          <a:prstGeom prst="roundRect">
            <a:avLst>
              <a:gd name="adj" fmla="val 12000"/>
            </a:avLst>
          </a:prstGeom>
          <a:solidFill>
            <a:srgbClr val="24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52500" y="4895850"/>
            <a:ext cx="762000" cy="285750"/>
          </a:xfrm>
          <a:prstGeom prst="roundRect">
            <a:avLst>
              <a:gd name="adj" fmla="val 50000"/>
            </a:avLst>
          </a:prstGeom>
          <a:solidFill>
            <a:srgbClr val="009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Draft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14500" y="4895850"/>
            <a:ext cx="22860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C9CA8"/>
                </a:solidFill>
                <a:latin typeface="Segoe UI"/>
              </a:rPr>
              <a:t>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943100" y="4895850"/>
            <a:ext cx="762000" cy="285750"/>
          </a:xfrm>
          <a:prstGeom prst="roundRect">
            <a:avLst>
              <a:gd name="adj" fmla="val 50000"/>
            </a:avLst>
          </a:prstGeom>
          <a:solidFill>
            <a:srgbClr val="009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5100" y="4895850"/>
            <a:ext cx="22860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C9CA8"/>
                </a:solidFill>
                <a:latin typeface="Segoe UI"/>
              </a:rPr>
              <a:t>&gt;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33700" y="4895850"/>
            <a:ext cx="762000" cy="285750"/>
          </a:xfrm>
          <a:prstGeom prst="roundRect">
            <a:avLst>
              <a:gd name="adj" fmla="val 50000"/>
            </a:avLst>
          </a:prstGeom>
          <a:solidFill>
            <a:srgbClr val="009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Approve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95700" y="4895850"/>
            <a:ext cx="22860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C9CA8"/>
                </a:solidFill>
                <a:latin typeface="Segoe UI"/>
              </a:rPr>
              <a:t>&gt;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924300" y="4895850"/>
            <a:ext cx="762000" cy="285750"/>
          </a:xfrm>
          <a:prstGeom prst="roundRect">
            <a:avLst>
              <a:gd name="adj" fmla="val 50000"/>
            </a:avLst>
          </a:prstGeom>
          <a:solidFill>
            <a:srgbClr val="DB00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Publish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81550" y="4762500"/>
            <a:ext cx="9525" cy="571500"/>
          </a:xfrm>
          <a:prstGeom prst="rect">
            <a:avLst/>
          </a:prstGeom>
          <a:solidFill>
            <a:srgbClr val="3A4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972050" y="4610100"/>
            <a:ext cx="6438900" cy="876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8D3D9"/>
                </a:solidFill>
                <a:latin typeface="Segoe UI"/>
              </a:rPr>
              <a:t>Every change moves through this pipeline — nothing reaches production without sign-off.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 rotWithShape="1">
            <a:gsLst>
              <a:gs pos="0">
                <a:srgbClr val="243746"/>
              </a:gs>
              <a:gs pos="55000">
                <a:srgbClr val="0093C9"/>
              </a:gs>
              <a:gs pos="100000">
                <a:srgbClr val="DB0032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381000"/>
            <a:ext cx="323850" cy="323850"/>
          </a:xfrm>
          <a:prstGeom prst="roundRect">
            <a:avLst>
              <a:gd name="adj" fmla="val 25000"/>
            </a:avLst>
          </a:prstGeom>
          <a:solidFill>
            <a:srgbClr val="24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Georgia"/>
              </a:rPr>
              <a:t>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950" y="447675"/>
            <a:ext cx="476250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B7A85"/>
                </a:solidFill>
                <a:latin typeface="Segoe UI"/>
              </a:rPr>
              <a:t>CAPITAL BANK · KNOWLEDGE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8000" y="447675"/>
            <a:ext cx="83820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B7A85"/>
                </a:solidFill>
                <a:latin typeface="Segoe UI"/>
              </a:rPr>
              <a:t>02 /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914400"/>
            <a:ext cx="952500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43746"/>
                </a:solidFill>
                <a:latin typeface="Segoe UI"/>
              </a:rPr>
              <a:t>From edit to searchable answer </a:t>
            </a:r>
            <a:r>
              <a:rPr sz="2600" b="1">
                <a:solidFill>
                  <a:srgbClr val="0093C9"/>
                </a:solidFill>
                <a:latin typeface="Segoe UI"/>
              </a:rPr>
              <a:t>— automatically.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1767840" y="2314575"/>
            <a:ext cx="8656320" cy="19050"/>
          </a:xfrm>
          <a:prstGeom prst="rect">
            <a:avLst/>
          </a:prstGeom>
          <a:solidFill>
            <a:srgbClr val="E5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548765" y="2095500"/>
            <a:ext cx="438150" cy="438150"/>
          </a:xfrm>
          <a:prstGeom prst="ellipse">
            <a:avLst/>
          </a:prstGeom>
          <a:solidFill>
            <a:srgbClr val="243746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686050"/>
            <a:ext cx="216408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43746"/>
                </a:solidFill>
                <a:latin typeface="Segoe UI"/>
              </a:rPr>
              <a:t>1. Edit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950" y="2914650"/>
            <a:ext cx="204978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A85"/>
                </a:solidFill>
                <a:latin typeface="Segoe UI"/>
              </a:rPr>
              <a:t>Content owner updates a Step or Retail product entry in the UI.</a:t>
            </a:r>
          </a:p>
        </p:txBody>
      </p:sp>
      <p:sp>
        <p:nvSpPr>
          <p:cNvPr id="12" name="Oval 11"/>
          <p:cNvSpPr/>
          <p:nvPr/>
        </p:nvSpPr>
        <p:spPr>
          <a:xfrm>
            <a:off x="3712844" y="2095500"/>
            <a:ext cx="438150" cy="438150"/>
          </a:xfrm>
          <a:prstGeom prst="ellipse">
            <a:avLst/>
          </a:prstGeom>
          <a:solidFill>
            <a:srgbClr val="243746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49880" y="2686050"/>
            <a:ext cx="216408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43746"/>
                </a:solidFill>
                <a:latin typeface="Segoe UI"/>
              </a:rPr>
              <a:t>2. Save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07030" y="2914650"/>
            <a:ext cx="204978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A85"/>
                </a:solidFill>
                <a:latin typeface="Segoe UI"/>
              </a:rPr>
              <a:t>The update is broken into data chunks and saved as the new version.</a:t>
            </a:r>
          </a:p>
        </p:txBody>
      </p:sp>
      <p:sp>
        <p:nvSpPr>
          <p:cNvPr id="15" name="Oval 14"/>
          <p:cNvSpPr/>
          <p:nvPr/>
        </p:nvSpPr>
        <p:spPr>
          <a:xfrm>
            <a:off x="5876925" y="2095500"/>
            <a:ext cx="438150" cy="438150"/>
          </a:xfrm>
          <a:prstGeom prst="ellipse">
            <a:avLst/>
          </a:prstGeom>
          <a:solidFill>
            <a:srgbClr val="243746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13960" y="2686050"/>
            <a:ext cx="216408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43746"/>
                </a:solidFill>
                <a:latin typeface="Segoe UI"/>
              </a:rPr>
              <a:t>3. Approve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1110" y="2914650"/>
            <a:ext cx="204978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A85"/>
                </a:solidFill>
                <a:latin typeface="Segoe UI"/>
              </a:rPr>
              <a:t>Approver reviews and signs off; version history is preserved.</a:t>
            </a:r>
          </a:p>
        </p:txBody>
      </p:sp>
      <p:sp>
        <p:nvSpPr>
          <p:cNvPr id="18" name="Oval 17"/>
          <p:cNvSpPr/>
          <p:nvPr/>
        </p:nvSpPr>
        <p:spPr>
          <a:xfrm>
            <a:off x="8041004" y="2095500"/>
            <a:ext cx="438150" cy="438150"/>
          </a:xfrm>
          <a:prstGeom prst="ellipse">
            <a:avLst/>
          </a:prstGeom>
          <a:solidFill>
            <a:srgbClr val="243746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78039" y="2686050"/>
            <a:ext cx="216408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43746"/>
                </a:solidFill>
                <a:latin typeface="Segoe UI"/>
              </a:rPr>
              <a:t>4. Embed &amp; Sync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5189" y="2914650"/>
            <a:ext cx="204978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A85"/>
                </a:solidFill>
                <a:latin typeface="Segoe UI"/>
              </a:rPr>
              <a:t>Re-embedded (multilingual E5-large) and synced to Milvus; stale vectors removed first.</a:t>
            </a:r>
          </a:p>
        </p:txBody>
      </p:sp>
      <p:sp>
        <p:nvSpPr>
          <p:cNvPr id="21" name="Oval 20"/>
          <p:cNvSpPr/>
          <p:nvPr/>
        </p:nvSpPr>
        <p:spPr>
          <a:xfrm>
            <a:off x="10205084" y="2095500"/>
            <a:ext cx="438150" cy="438150"/>
          </a:xfrm>
          <a:prstGeom prst="ellipse">
            <a:avLst/>
          </a:prstGeom>
          <a:solidFill>
            <a:srgbClr val="DB0032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42120" y="2686050"/>
            <a:ext cx="216408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243746"/>
                </a:solidFill>
                <a:latin typeface="Segoe UI"/>
              </a:rPr>
              <a:t>5. Live</a:t>
            </a:r>
            <a:r>
              <a:rPr lang="en-US" sz="1200" b="1" dirty="0">
                <a:solidFill>
                  <a:srgbClr val="243746"/>
                </a:solidFill>
                <a:latin typeface="Segoe UI"/>
              </a:rPr>
              <a:t> Data</a:t>
            </a:r>
            <a:endParaRPr sz="1200" b="1" dirty="0">
              <a:solidFill>
                <a:srgbClr val="243746"/>
              </a:solidFill>
              <a:latin typeface="Segoe U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399270" y="2914650"/>
            <a:ext cx="204978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A85"/>
                </a:solidFill>
                <a:latin typeface="Segoe UI"/>
              </a:rPr>
              <a:t>The mobile assistant retrieves the update on the next relevant query.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334000"/>
            <a:ext cx="10820400" cy="838200"/>
          </a:xfrm>
          <a:prstGeom prst="roundRect">
            <a:avLst>
              <a:gd name="adj" fmla="val 14000"/>
            </a:avLst>
          </a:prstGeom>
          <a:solidFill>
            <a:srgbClr val="24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52500" y="5619750"/>
            <a:ext cx="266700" cy="266700"/>
          </a:xfrm>
          <a:prstGeom prst="ellipse">
            <a:avLst/>
          </a:prstGeom>
          <a:solidFill>
            <a:srgbClr val="2E4657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428750" y="5334000"/>
            <a:ext cx="9715500" cy="838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"/>
              </a:rPr>
              <a:t>Content updates flow from a business-friendly UI to a production knowledge base — every version saved, no manual vector-DB 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 rotWithShape="1">
            <a:gsLst>
              <a:gs pos="0">
                <a:srgbClr val="243746"/>
              </a:gs>
              <a:gs pos="55000">
                <a:srgbClr val="0093C9"/>
              </a:gs>
              <a:gs pos="100000">
                <a:srgbClr val="DB0032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381000"/>
            <a:ext cx="323850" cy="323850"/>
          </a:xfrm>
          <a:prstGeom prst="roundRect">
            <a:avLst>
              <a:gd name="adj" fmla="val 25000"/>
            </a:avLst>
          </a:prstGeom>
          <a:solidFill>
            <a:srgbClr val="24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Georgia"/>
              </a:rPr>
              <a:t>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950" y="447675"/>
            <a:ext cx="476250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B7A85"/>
                </a:solidFill>
                <a:latin typeface="Segoe UI"/>
              </a:rPr>
              <a:t>CAPITAL BANK · KNOWLEDGE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8000" y="447675"/>
            <a:ext cx="83820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B7A85"/>
                </a:solidFill>
                <a:latin typeface="Segoe UI"/>
              </a:rPr>
              <a:t>03 /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914400"/>
            <a:ext cx="85725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43746"/>
                </a:solidFill>
                <a:latin typeface="Segoe UI"/>
              </a:rPr>
              <a:t>What’s next</a:t>
            </a:r>
            <a:r>
              <a:rPr sz="3000" b="1">
                <a:solidFill>
                  <a:srgbClr val="0093C9"/>
                </a:solidFill>
                <a:latin typeface="Segoe U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14450"/>
            <a:ext cx="9144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55460"/>
                </a:solidFill>
                <a:latin typeface="Segoe UI"/>
              </a:rPr>
              <a:t>Growing into a centralized data knowledge base for the whole bank.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95450"/>
            <a:ext cx="952500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455460"/>
                </a:solidFill>
                <a:latin typeface="Segoe UI"/>
              </a:rPr>
              <a:t>Pocket GPT Mobile’s financial advisor is the first consumer of Data Studio — it draws one specific slice of data from Milvus. The next phase turns Data Studio into a centralized hub connected to the bank’s other databases and systems, keeping every one of them current and consistent — not just this project.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81250"/>
            <a:ext cx="47625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B7A85"/>
                </a:solidFill>
                <a:latin typeface="Segoe UI"/>
              </a:rPr>
              <a:t>CENTRALIZED DATA HUB — WHAT’S PLANNED NEXT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495550"/>
            <a:ext cx="10820400" cy="9525"/>
          </a:xfrm>
          <a:prstGeom prst="rect">
            <a:avLst/>
          </a:prstGeom>
          <a:solidFill>
            <a:srgbClr val="E5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767840" y="3038475"/>
            <a:ext cx="8656320" cy="19050"/>
          </a:xfrm>
          <a:prstGeom prst="rect">
            <a:avLst/>
          </a:prstGeom>
          <a:solidFill>
            <a:srgbClr val="E5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548765" y="2819400"/>
            <a:ext cx="438150" cy="438150"/>
          </a:xfrm>
          <a:prstGeom prst="ellipse">
            <a:avLst/>
          </a:prstGeom>
          <a:solidFill>
            <a:srgbClr val="243746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329690" y="3352800"/>
            <a:ext cx="876300" cy="190500"/>
          </a:xfrm>
          <a:prstGeom prst="roundRect">
            <a:avLst>
              <a:gd name="adj" fmla="val 50000"/>
            </a:avLst>
          </a:prstGeom>
          <a:solidFill>
            <a:srgbClr val="E6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0093C9"/>
                </a:solidFill>
                <a:latin typeface="Segoe UI"/>
              </a:rPr>
              <a:t>CENTRAL HUB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600450"/>
            <a:ext cx="216408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43746"/>
                </a:solidFill>
                <a:latin typeface="Segoe UI"/>
              </a:rPr>
              <a:t>Data Studio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950" y="3810000"/>
            <a:ext cx="204978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A85"/>
                </a:solidFill>
                <a:latin typeface="Segoe UI"/>
              </a:rPr>
              <a:t>One pipeline, one source of truth.</a:t>
            </a:r>
          </a:p>
        </p:txBody>
      </p:sp>
      <p:sp>
        <p:nvSpPr>
          <p:cNvPr id="17" name="Oval 16"/>
          <p:cNvSpPr/>
          <p:nvPr/>
        </p:nvSpPr>
        <p:spPr>
          <a:xfrm>
            <a:off x="3712844" y="2819400"/>
            <a:ext cx="438150" cy="438150"/>
          </a:xfrm>
          <a:prstGeom prst="ellipse">
            <a:avLst/>
          </a:prstGeom>
          <a:solidFill>
            <a:srgbClr val="DB0032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493769" y="3352800"/>
            <a:ext cx="876300" cy="190500"/>
          </a:xfrm>
          <a:prstGeom prst="roundRect">
            <a:avLst>
              <a:gd name="adj" fmla="val 50000"/>
            </a:avLst>
          </a:prstGeom>
          <a:solidFill>
            <a:srgbClr val="FD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dirty="0">
                <a:solidFill>
                  <a:srgbClr val="DB0032"/>
                </a:solidFill>
                <a:latin typeface="Segoe UI"/>
              </a:rPr>
              <a:t>LIVE </a:t>
            </a:r>
            <a:r>
              <a:rPr lang="en-US" sz="1100" b="1" dirty="0">
                <a:solidFill>
                  <a:srgbClr val="DB0032"/>
                </a:solidFill>
                <a:latin typeface="Segoe UI"/>
              </a:rPr>
              <a:t>DATA</a:t>
            </a:r>
            <a:endParaRPr sz="1100" b="1" dirty="0">
              <a:solidFill>
                <a:srgbClr val="DB0032"/>
              </a:solidFill>
              <a:latin typeface="Segoe U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849880" y="3600450"/>
            <a:ext cx="216408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43746"/>
                </a:solidFill>
                <a:latin typeface="Segoe UI"/>
              </a:rPr>
              <a:t>Pocket GPT Mobile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7030" y="3810000"/>
            <a:ext cx="204978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A85"/>
                </a:solidFill>
                <a:latin typeface="Segoe UI"/>
              </a:rPr>
              <a:t>Financial advisor — first connected system.</a:t>
            </a:r>
          </a:p>
        </p:txBody>
      </p:sp>
      <p:sp>
        <p:nvSpPr>
          <p:cNvPr id="21" name="Oval 20"/>
          <p:cNvSpPr/>
          <p:nvPr/>
        </p:nvSpPr>
        <p:spPr>
          <a:xfrm>
            <a:off x="5876925" y="2819400"/>
            <a:ext cx="438150" cy="43815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4374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657850" y="3352800"/>
            <a:ext cx="876300" cy="190500"/>
          </a:xfrm>
          <a:prstGeom prst="roundRect">
            <a:avLst>
              <a:gd name="adj" fmla="val 50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6B7A85"/>
                </a:solidFill>
                <a:latin typeface="Segoe UI"/>
              </a:rPr>
              <a:t>NEXT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13960" y="3600450"/>
            <a:ext cx="216408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43746"/>
                </a:solidFill>
                <a:latin typeface="Segoe UI"/>
              </a:rPr>
              <a:t>Core Banking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1110" y="3810000"/>
            <a:ext cx="204978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A85"/>
                </a:solidFill>
                <a:latin typeface="Segoe UI"/>
              </a:rPr>
              <a:t>Planned connection.</a:t>
            </a:r>
          </a:p>
        </p:txBody>
      </p:sp>
      <p:sp>
        <p:nvSpPr>
          <p:cNvPr id="25" name="Oval 24"/>
          <p:cNvSpPr/>
          <p:nvPr/>
        </p:nvSpPr>
        <p:spPr>
          <a:xfrm>
            <a:off x="8041004" y="2819400"/>
            <a:ext cx="438150" cy="43815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4374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821929" y="3352800"/>
            <a:ext cx="876300" cy="190500"/>
          </a:xfrm>
          <a:prstGeom prst="roundRect">
            <a:avLst>
              <a:gd name="adj" fmla="val 50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6B7A85"/>
                </a:solidFill>
                <a:latin typeface="Segoe UI"/>
              </a:rPr>
              <a:t>NEXT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39" y="3600450"/>
            <a:ext cx="216408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43746"/>
                </a:solidFill>
                <a:latin typeface="Segoe UI"/>
              </a:rPr>
              <a:t>CRM &amp; Customer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35189" y="3810000"/>
            <a:ext cx="204978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A85"/>
                </a:solidFill>
                <a:latin typeface="Segoe UI"/>
              </a:rPr>
              <a:t>Planned connection.</a:t>
            </a:r>
          </a:p>
        </p:txBody>
      </p:sp>
      <p:sp>
        <p:nvSpPr>
          <p:cNvPr id="29" name="Oval 28"/>
          <p:cNvSpPr/>
          <p:nvPr/>
        </p:nvSpPr>
        <p:spPr>
          <a:xfrm>
            <a:off x="10205084" y="2819400"/>
            <a:ext cx="438150" cy="43815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4374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986009" y="3352800"/>
            <a:ext cx="876300" cy="190500"/>
          </a:xfrm>
          <a:prstGeom prst="roundRect">
            <a:avLst>
              <a:gd name="adj" fmla="val 50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6B7A85"/>
                </a:solidFill>
                <a:latin typeface="Segoe UI"/>
              </a:rPr>
              <a:t>NEXT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42120" y="3600450"/>
            <a:ext cx="216408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43746"/>
                </a:solidFill>
                <a:latin typeface="Segoe UI"/>
              </a:rPr>
              <a:t>Cards, Loans &amp; Branch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99270" y="3810000"/>
            <a:ext cx="204978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A85"/>
                </a:solidFill>
                <a:latin typeface="Segoe UI"/>
              </a:rPr>
              <a:t>+ more systems bank-wide.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5638800"/>
            <a:ext cx="10820400" cy="838200"/>
          </a:xfrm>
          <a:prstGeom prst="roundRect">
            <a:avLst>
              <a:gd name="adj" fmla="val 14000"/>
            </a:avLst>
          </a:prstGeom>
          <a:solidFill>
            <a:srgbClr val="24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52500" y="5924550"/>
            <a:ext cx="266700" cy="266700"/>
          </a:xfrm>
          <a:prstGeom prst="ellipse">
            <a:avLst/>
          </a:prstGeom>
          <a:solidFill>
            <a:srgbClr val="2E4657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428750" y="5638800"/>
            <a:ext cx="9715500" cy="838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Segoe UI"/>
              </a:rPr>
              <a:t>Same trusted pipeline — draft, review, approve, publish — scaled so every connected system stays accurate and up to date, bank-wide.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408</Words>
  <Application>Microsoft Office PowerPoint</Application>
  <PresentationFormat>Widescreen</PresentationFormat>
  <Paragraphs>61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Georgia</vt:lpstr>
      <vt:lpstr>Segoe UI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hala sweilem</cp:lastModifiedBy>
  <cp:revision>3</cp:revision>
  <dcterms:created xsi:type="dcterms:W3CDTF">2013-01-27T09:14:16Z</dcterms:created>
  <dcterms:modified xsi:type="dcterms:W3CDTF">2026-08-23T09:14:50Z</dcterms:modified>
  <cp:category/>
</cp:coreProperties>
</file>